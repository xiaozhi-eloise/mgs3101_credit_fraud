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14"/>
  </p:handoutMasterIdLst>
  <p:sldIdLst>
    <p:sldId id="256" r:id="rId3"/>
    <p:sldId id="270" r:id="rId4"/>
    <p:sldId id="269" r:id="rId5"/>
    <p:sldId id="271" r:id="rId6"/>
    <p:sldId id="259" r:id="rId7"/>
    <p:sldId id="266" r:id="rId9"/>
    <p:sldId id="267" r:id="rId10"/>
    <p:sldId id="262" r:id="rId11"/>
    <p:sldId id="263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9" userDrawn="1">
          <p15:clr>
            <a:srgbClr val="A4A3A4"/>
          </p15:clr>
        </p15:guide>
        <p15:guide id="2" pos="3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9"/>
        <p:guide pos="385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The table compares two models on an extremely imbalanced test set (~0.17% fraud, likely ~1 positive). At the default 0.5 threshold both models predict no positives, so precision/recall/F1 are all 0. After tuning the threshold to maximize F1, the optimal cutoffs are extremely low (≈0.0002 for Logistic Regression and ~0 for Random Forest), which flags many transactions as fraud: this yields recall = 1.00 (the single fraud is caught) but very low precision (1.92% for Logistic Regression; 0.17% for Random Forest). In ranking terms, Logistic Regression (balanced) performs much better (ROC_AUC = 0.9149, PR_AUC = 0.0192, ~10</a:t>
            </a: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×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the base fraud rate of ~0.0017), while Random Forest (balanced_subsample) is near random or worse (ROC_AUC = 0.4841, PR_AUC = 0.0017 ≈ baseline). 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2.xml"/><Relationship Id="rId4" Type="http://schemas.openxmlformats.org/officeDocument/2006/relationships/image" Target="../media/image1.png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image" Target="../media/image4.png"/><Relationship Id="rId1" Type="http://schemas.openxmlformats.org/officeDocument/2006/relationships/tags" Target="../tags/tag80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2336800"/>
            <a:ext cx="9799200" cy="2570400"/>
          </a:xfrm>
        </p:spPr>
        <p:txBody>
          <a:bodyPr>
            <a:noAutofit/>
          </a:bodyPr>
          <a:p>
            <a:r>
              <a:rPr lang="en-US" altLang="zh-CN" sz="3200" b="1">
                <a:latin typeface="PingFang SC Semibold" panose="020B0400000000000000" charset="-122"/>
                <a:ea typeface="PingFang SC Semibold" panose="020B0400000000000000" charset="-122"/>
              </a:rPr>
              <a:t>Predictive Analytics and Business Strategy for Credit Card Fraud Detection</a:t>
            </a:r>
            <a:br>
              <a:rPr lang="en-US" altLang="zh-CN" sz="2400"/>
            </a:br>
            <a:br>
              <a:rPr lang="en-US" altLang="zh-CN" sz="2400"/>
            </a:br>
            <a:br>
              <a:rPr lang="en-US" altLang="zh-CN" sz="2400"/>
            </a:br>
            <a:r>
              <a:rPr lang="en-US" altLang="zh-CN" sz="2400" b="1">
                <a:latin typeface="PingFang SC Semibold" panose="020B0400000000000000" charset="-122"/>
                <a:ea typeface="PingFang SC Semibold" panose="020B0400000000000000" charset="-122"/>
              </a:rPr>
              <a:t>Zhi Xiao / 1306209</a:t>
            </a:r>
            <a:br>
              <a:rPr lang="en-US" altLang="zh-CN" sz="2400" b="1">
                <a:latin typeface="PingFang SC Semibold" panose="020B0400000000000000" charset="-122"/>
                <a:ea typeface="PingFang SC Semibold" panose="020B0400000000000000" charset="-122"/>
              </a:rPr>
            </a:br>
            <a:r>
              <a:rPr lang="en-US" altLang="zh-CN" sz="2400" b="1">
                <a:latin typeface="PingFang SC Semibold" panose="020B0400000000000000" charset="-122"/>
                <a:ea typeface="PingFang SC Semibold" panose="020B0400000000000000" charset="-122"/>
              </a:rPr>
              <a:t>MGS*3101*01</a:t>
            </a:r>
            <a:br>
              <a:rPr lang="en-US" altLang="zh-CN" sz="2400" b="1">
                <a:latin typeface="PingFang SC Semibold" panose="020B0400000000000000" charset="-122"/>
                <a:ea typeface="PingFang SC Semibold" panose="020B0400000000000000" charset="-122"/>
              </a:rPr>
            </a:br>
            <a:r>
              <a:rPr lang="en-US" altLang="zh-CN" sz="2400" b="1">
                <a:latin typeface="PingFang SC Semibold" panose="020B0400000000000000" charset="-122"/>
                <a:ea typeface="PingFang SC Semibold" panose="020B0400000000000000" charset="-122"/>
              </a:rPr>
              <a:t>12/10/2025</a:t>
            </a:r>
            <a:endParaRPr lang="en-US" altLang="zh-CN" sz="24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479495"/>
            <a:ext cx="10969200" cy="705600"/>
          </a:xfrm>
        </p:spPr>
        <p:txBody>
          <a:bodyPr/>
          <a:p>
            <a:r>
              <a:rPr lang="en-US" altLang="zh-CN" sz="3200" b="1">
                <a:solidFill>
                  <a:srgbClr val="1F1F1F"/>
                </a:solidFill>
                <a:latin typeface="Google Sans Text"/>
                <a:ea typeface="Google Sans Text"/>
                <a:sym typeface="+mn-ea"/>
              </a:rPr>
              <a:t>Problem S</a:t>
            </a:r>
            <a:r>
              <a:rPr lang="en-US" altLang="zh-CN" sz="3200" b="1">
                <a:solidFill>
                  <a:srgbClr val="1F1F1F"/>
                </a:solidFill>
                <a:latin typeface="Google Sans Text"/>
                <a:ea typeface="Google Sans Text"/>
                <a:sym typeface="+mn-ea"/>
              </a:rPr>
              <a:t>tatement</a:t>
            </a:r>
            <a:endParaRPr lang="en-US" altLang="zh-CN" sz="3200" b="1">
              <a:solidFill>
                <a:srgbClr val="1F1F1F"/>
              </a:solidFill>
              <a:latin typeface="Google Sans Text"/>
              <a:ea typeface="Google Sans Text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21620"/>
            <a:ext cx="10968990" cy="1649095"/>
          </a:xfrm>
        </p:spPr>
        <p:txBody>
          <a:bodyPr>
            <a:noAutofit/>
          </a:bodyPr>
          <a:p>
            <a:pPr marL="0" indent="0" algn="l">
              <a:buClrTx/>
              <a:buSzTx/>
              <a:buFont typeface="Arial" panose="020B0604020202090204"/>
              <a:buNone/>
            </a:pPr>
            <a:r>
              <a:rPr lang="en-US" altLang="zh-CN" sz="2000" b="1" spc="0">
                <a:solidFill>
                  <a:srgbClr val="1F1F1F"/>
                </a:solidFill>
                <a:latin typeface="Times New Roman Bold" panose="02020503050405090304" charset="0"/>
                <a:ea typeface="Google Sans Text"/>
                <a:cs typeface="Times New Roman Bold" panose="02020503050405090304" charset="0"/>
              </a:rPr>
              <a:t>Credit Card Fraud</a:t>
            </a:r>
            <a:r>
              <a:rPr lang="en-US" altLang="zh-CN" sz="2000" spc="0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</a:rPr>
              <a:t> leads to financial loss and damaged trust. This problem is worsen by an extreme data imbalance, as fraudulent transactions constitute less than 0.2% of the total data. Standard models struggle with this scarcity. Hence, my project objective is to develop a robust, class-weighted solution capable of achieving near-perfect Recall to eliminate fraud leakage.</a:t>
            </a:r>
            <a:endParaRPr lang="en-US" altLang="zh-CN" sz="2000" spc="0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zh-CN" sz="20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8400" y="3107240"/>
            <a:ext cx="10969200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1F1F1F"/>
                </a:solidFill>
                <a:latin typeface="Google Sans Text"/>
                <a:ea typeface="Google Sans Text"/>
                <a:sym typeface="+mn-ea"/>
              </a:rPr>
              <a:t>Data</a:t>
            </a:r>
            <a:endParaRPr lang="en-US" altLang="zh-CN" sz="3200" b="1">
              <a:solidFill>
                <a:srgbClr val="1F1F1F"/>
              </a:solidFill>
              <a:latin typeface="Google Sans Text"/>
              <a:ea typeface="Google Sans Text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30" y="3812725"/>
            <a:ext cx="11172190" cy="2491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2000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  <a:sym typeface="+mn-ea"/>
              </a:rPr>
              <a:t>Context: Transactions made by European cardholders in September 2013.</a:t>
            </a:r>
            <a:endParaRPr lang="en-US" altLang="zh-CN" sz="2000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  <a:sym typeface="+mn-ea"/>
            </a:endParaRPr>
          </a:p>
          <a:p>
            <a:pPr marL="285750" indent="-2857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2000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  <a:sym typeface="+mn-ea"/>
              </a:rPr>
              <a:t>Sample Size: 3,000 transactions record. (</a:t>
            </a:r>
            <a:r>
              <a:rPr lang="en-US" altLang="zh-CN" sz="2000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  <a:sym typeface="+mn-ea"/>
              </a:rPr>
              <a:t>5 fraud/2,995 Legitimate </a:t>
            </a:r>
            <a:r>
              <a:rPr lang="zh-CN" altLang="en-US" sz="2000">
                <a:solidFill>
                  <a:srgbClr val="1F1F1F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—</a:t>
            </a:r>
            <a:r>
              <a:rPr lang="en-US" altLang="zh-CN" sz="2000">
                <a:solidFill>
                  <a:srgbClr val="1F1F1F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 </a:t>
            </a:r>
            <a:r>
              <a:rPr lang="en-US" altLang="zh-CN" sz="2000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  <a:sym typeface="+mn-ea"/>
              </a:rPr>
              <a:t>0.1667%</a:t>
            </a:r>
            <a:r>
              <a:rPr lang="zh-CN" altLang="en-US" sz="2000">
                <a:solidFill>
                  <a:srgbClr val="1F1F1F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）</a:t>
            </a:r>
            <a:endParaRPr lang="en-US" altLang="zh-CN" sz="2000" b="0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</a:endParaRPr>
          </a:p>
          <a:p>
            <a:pPr marL="285750" indent="-2857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2000" b="1">
                <a:solidFill>
                  <a:srgbClr val="1F1F1F"/>
                </a:solidFill>
                <a:latin typeface="Times New Roman Bold" panose="02020503050405090304" charset="0"/>
                <a:ea typeface="Google Sans Text"/>
                <a:cs typeface="Times New Roman Bold" panose="02020503050405090304" charset="0"/>
                <a:sym typeface="+mn-ea"/>
              </a:rPr>
              <a:t>Feature Structure (30 Features)</a:t>
            </a:r>
            <a:endParaRPr lang="en-US" altLang="zh-CN" sz="2000" b="1">
              <a:solidFill>
                <a:srgbClr val="1F1F1F"/>
              </a:solidFill>
              <a:latin typeface="Times New Roman Bold" panose="02020503050405090304" charset="0"/>
              <a:ea typeface="Google Sans Text"/>
              <a:cs typeface="Times New Roman Bold" panose="02020503050405090304" charset="0"/>
              <a:sym typeface="+mn-ea"/>
            </a:endParaRPr>
          </a:p>
          <a:p>
            <a:pPr marL="285750" indent="-2857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2000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  <a:sym typeface="+mn-ea"/>
              </a:rPr>
              <a:t>V1-V28 (PCA Anonymous Features): Transformed via Principal Component Analysis (PCA) to protect user privacy.</a:t>
            </a:r>
            <a:endParaRPr lang="en-US" altLang="zh-CN" sz="2000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  <a:sym typeface="+mn-ea"/>
            </a:endParaRPr>
          </a:p>
          <a:p>
            <a:pPr marL="285750" indent="-2857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2000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  <a:sym typeface="+mn-ea"/>
              </a:rPr>
              <a:t>Time &amp; Amount: Original features, which have been processed with StandardScaler for standardization.</a:t>
            </a:r>
            <a:endParaRPr lang="en-US" altLang="zh-CN" sz="2000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27425" y="136595"/>
            <a:ext cx="10969200" cy="705600"/>
          </a:xfrm>
        </p:spPr>
        <p:txBody>
          <a:bodyPr/>
          <a:p>
            <a:r>
              <a:rPr lang="en-US" altLang="zh-CN" sz="3200" b="1">
                <a:solidFill>
                  <a:srgbClr val="1F1F1F"/>
                </a:solidFill>
                <a:latin typeface="Google Sans Text"/>
                <a:ea typeface="Google Sans Text"/>
                <a:sym typeface="+mn-ea"/>
              </a:rPr>
              <a:t>Data &amp; Challenge</a:t>
            </a:r>
            <a:endParaRPr lang="en-US" altLang="zh-CN" sz="3200" b="1">
              <a:solidFill>
                <a:srgbClr val="1F1F1F"/>
              </a:solidFill>
              <a:latin typeface="Google Sans Text"/>
              <a:ea typeface="Google Sans Text"/>
              <a:sym typeface="+mn-ea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2"/>
            </p:custDataLst>
          </p:nvPr>
        </p:nvGraphicFramePr>
        <p:xfrm>
          <a:off x="427355" y="816610"/>
          <a:ext cx="11149965" cy="2766695"/>
        </p:xfrm>
        <a:graphic>
          <a:graphicData uri="http://schemas.openxmlformats.org/drawingml/2006/table">
            <a:tbl>
              <a:tblPr/>
              <a:tblGrid>
                <a:gridCol w="2350135"/>
                <a:gridCol w="3637915"/>
                <a:gridCol w="5161915"/>
              </a:tblGrid>
              <a:tr h="203835"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Metric</a:t>
                      </a:r>
                      <a:endParaRPr lang="en-US" altLang="zh-CN" sz="16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Training Set</a:t>
                      </a:r>
                      <a:endParaRPr lang="en-US" altLang="zh-CN" sz="16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Testing Set</a:t>
                      </a:r>
                      <a:endParaRPr lang="en-US" altLang="zh-CN" sz="16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2400"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Total Rows</a:t>
                      </a:r>
                      <a:endParaRPr lang="en-US" altLang="zh-CN" sz="16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2,400</a:t>
                      </a:r>
                      <a:endParaRPr lang="en-US" altLang="zh-CN" sz="16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600</a:t>
                      </a:r>
                      <a:endParaRPr lang="en-US" altLang="zh-CN" sz="16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Number of Features</a:t>
                      </a:r>
                      <a:endParaRPr lang="en-US" altLang="zh-CN" sz="16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30</a:t>
                      </a:r>
                      <a:endParaRPr lang="en-US" altLang="zh-CN" sz="16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30</a:t>
                      </a:r>
                      <a:endParaRPr lang="en-US" altLang="zh-CN" sz="16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140"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Fraud Rate (Class=1)</a:t>
                      </a:r>
                      <a:endParaRPr lang="en-US" altLang="zh-CN" sz="16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0.1667%</a:t>
                      </a:r>
                      <a:endParaRPr lang="en-US" altLang="zh-CN" sz="16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0.1667%</a:t>
                      </a:r>
                      <a:endParaRPr lang="en-US" altLang="zh-CN" sz="16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245"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Actual Fraud Count</a:t>
                      </a:r>
                      <a:endParaRPr lang="en-US" altLang="zh-CN" sz="16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4</a:t>
                      </a:r>
                      <a:endParaRPr lang="en-US" altLang="zh-CN" sz="16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1</a:t>
                      </a:r>
                      <a:endParaRPr lang="en-US" altLang="zh-CN" sz="16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2275"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Purpose</a:t>
                      </a:r>
                      <a:endParaRPr lang="en-US" altLang="zh-CN" sz="16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Used to train the model to learn fraud patterns.</a:t>
                      </a:r>
                      <a:endParaRPr lang="en-US" altLang="zh-CN" sz="16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Used for final, unbiased evaluation of model performance.</a:t>
                      </a:r>
                      <a:endParaRPr lang="en-US" altLang="zh-CN" sz="16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>
            <p:custDataLst>
              <p:tags r:id="rId3"/>
            </p:custDataLst>
          </p:nvPr>
        </p:nvGraphicFramePr>
        <p:xfrm>
          <a:off x="427355" y="4204335"/>
          <a:ext cx="6330315" cy="1614170"/>
        </p:xfrm>
        <a:graphic>
          <a:graphicData uri="http://schemas.openxmlformats.org/drawingml/2006/table">
            <a:tbl>
              <a:tblPr/>
              <a:tblGrid>
                <a:gridCol w="2110105"/>
                <a:gridCol w="2110105"/>
                <a:gridCol w="2110105"/>
              </a:tblGrid>
              <a:tr h="6521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Category</a:t>
                      </a:r>
                      <a:endParaRPr lang="en-US" altLang="zh-CN" sz="1600" b="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Transaction Count (N)</a:t>
                      </a:r>
                      <a:endParaRPr lang="en-US" altLang="zh-CN" sz="1600" b="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Percentage</a:t>
                      </a:r>
                      <a:endParaRPr lang="en-US" altLang="zh-CN" sz="1600" b="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069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Legitimate (Class 0)</a:t>
                      </a:r>
                      <a:endParaRPr lang="en-US" altLang="zh-CN" sz="1600" b="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2,995</a:t>
                      </a:r>
                      <a:endParaRPr lang="en-US" altLang="zh-CN" sz="1600" b="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99.8333%</a:t>
                      </a:r>
                      <a:endParaRPr lang="en-US" altLang="zh-CN" sz="1600" b="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133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Fraud (Class 1)</a:t>
                      </a:r>
                      <a:endParaRPr lang="en-US" altLang="zh-CN" sz="1600" b="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5</a:t>
                      </a:r>
                      <a:endParaRPr lang="en-US" altLang="zh-CN" sz="1600" b="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0.1667%</a:t>
                      </a:r>
                      <a:endParaRPr lang="en-US" altLang="zh-CN" sz="1600" b="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427355" y="37217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1F1F1F"/>
                </a:solidFill>
                <a:latin typeface="Google Sans Text"/>
                <a:ea typeface="Google Sans Text"/>
                <a:sym typeface="+mn-ea"/>
              </a:rPr>
              <a:t>The Imbalance Reality</a:t>
            </a:r>
            <a:endParaRPr lang="en-US" altLang="zh-CN" b="1">
              <a:solidFill>
                <a:srgbClr val="1F1F1F"/>
              </a:solidFill>
              <a:latin typeface="Google Sans Text"/>
              <a:ea typeface="Google Sans Text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27355" y="5932805"/>
            <a:ext cx="6884035" cy="367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>
              <a:lnSpc>
                <a:spcPct val="120000"/>
              </a:lnSpc>
              <a:buClrTx/>
              <a:buSzTx/>
              <a:buNone/>
            </a:pPr>
            <a:r>
              <a:rPr lang="en-US" altLang="zh-CN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  <a:sym typeface="+mn-ea"/>
              </a:rPr>
              <a:t>EDA highlighted the critical scarcity of fraud events (0.1667%), confirming that standard modeling approaches would fail.</a:t>
            </a:r>
            <a:endParaRPr lang="en-US" altLang="zh-CN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  <a:sym typeface="+mn-ea"/>
            </a:endParaRPr>
          </a:p>
        </p:txBody>
      </p:sp>
      <p:pic>
        <p:nvPicPr>
          <p:cNvPr id="19" name="图片 18" descr="截屏2025-12-01 下午7.20.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530" y="3698875"/>
            <a:ext cx="5104130" cy="31584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9920" y="251460"/>
            <a:ext cx="5777230" cy="705485"/>
          </a:xfrm>
        </p:spPr>
        <p:txBody>
          <a:bodyPr vert="horz" lIns="90000" tIns="46800" rIns="90000" bIns="46800" rtlCol="0" anchor="ctr" anchorCtr="0">
            <a:normAutofit/>
          </a:bodyPr>
          <a:p>
            <a:pPr lvl="0" algn="l">
              <a:buClrTx/>
              <a:buSzTx/>
              <a:buFontTx/>
            </a:pPr>
            <a:r>
              <a:rPr lang="en-US" altLang="zh-CN" b="1">
                <a:solidFill>
                  <a:srgbClr val="1F1F1F"/>
                </a:solidFill>
                <a:latin typeface="Google Sans Text"/>
                <a:ea typeface="Google Sans Text"/>
                <a:sym typeface="+mn-ea"/>
              </a:rPr>
              <a:t>Methodology</a:t>
            </a:r>
            <a:endParaRPr lang="en-US" altLang="zh-CN" sz="3200" b="1">
              <a:solidFill>
                <a:srgbClr val="1F1F1F"/>
              </a:solidFill>
              <a:latin typeface="Google Sans Text"/>
              <a:ea typeface="Google Sans Text"/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629920" y="1172845"/>
          <a:ext cx="11075670" cy="4294505"/>
        </p:xfrm>
        <a:graphic>
          <a:graphicData uri="http://schemas.openxmlformats.org/drawingml/2006/table">
            <a:tbl>
              <a:tblPr/>
              <a:tblGrid>
                <a:gridCol w="2654300"/>
                <a:gridCol w="4391660"/>
                <a:gridCol w="4029710"/>
              </a:tblGrid>
              <a:tr h="44513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Model</a:t>
                      </a:r>
                      <a:endParaRPr lang="en-US" altLang="zh-CN" sz="18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Rationale</a:t>
                      </a:r>
                      <a:endParaRPr lang="en-US" altLang="zh-CN" sz="18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Imbalance Mitigation Strategy</a:t>
                      </a:r>
                      <a:endParaRPr lang="en-US" altLang="zh-CN" sz="18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6179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Logistic Regression (LR)</a:t>
                      </a:r>
                      <a:endParaRPr lang="en-US" altLang="zh-CN" sz="18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Linear Baseline: Efficient, interpretable, and typically performs well in high-dimensional spaces (like PCA features).</a:t>
                      </a:r>
                      <a:endParaRPr lang="en-US" altLang="zh-CN" sz="18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Class Weight = "Balanced"</a:t>
                      </a:r>
                      <a:endParaRPr lang="en-US" altLang="zh-CN" sz="18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8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Automatically assigns higher penalty weights to the minority class (fraud) during optimization.</a:t>
                      </a:r>
                      <a:endParaRPr lang="en-US" altLang="zh-CN" sz="18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519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Random Forest (RF)</a:t>
                      </a:r>
                      <a:endParaRPr lang="en-US" altLang="zh-CN" sz="18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Non-linear Ensemble: Selected to capture complex, non-linear interactions between features that a linear model might miss.</a:t>
                      </a:r>
                      <a:endParaRPr lang="en-US" altLang="zh-CN" sz="18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Class Weight = "Balanced Subsample"</a:t>
                      </a:r>
                      <a:endParaRPr lang="en-US" altLang="zh-CN" sz="18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8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Calculates weights based on the bootstrap sample for each tree, ensuring every decision tree focuses on the minority class.</a:t>
                      </a:r>
                      <a:endParaRPr lang="en-US" altLang="zh-CN" sz="18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29285" y="5772785"/>
            <a:ext cx="11326495" cy="58864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10000"/>
              </a:lnSpc>
            </a:pPr>
            <a:r>
              <a:rPr lang="en-US" altLang="zh-CN" sz="2000" b="1">
                <a:solidFill>
                  <a:srgbClr val="1F1F1F"/>
                </a:solidFill>
                <a:latin typeface="Times New Roman Bold" panose="02020503050405090304" charset="0"/>
                <a:ea typeface="Google Sans Text"/>
                <a:cs typeface="Times New Roman Bold" panose="02020503050405090304" charset="0"/>
              </a:rPr>
              <a:t>Core Strategy:</a:t>
            </a:r>
            <a:r>
              <a:rPr lang="en-US" altLang="zh-CN" sz="2000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</a:rPr>
              <a:t> Both models utilize Class Weighting to force the algorithms to prioritize the rare fraud patterns over the majority class.</a:t>
            </a:r>
            <a:endParaRPr lang="en-US" altLang="zh-CN" sz="2000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52800"/>
            <a:ext cx="10969200" cy="705600"/>
          </a:xfrm>
        </p:spPr>
        <p:txBody>
          <a:bodyPr/>
          <a:p>
            <a:r>
              <a:rPr lang="en-US" altLang="zh-CN" sz="2800" b="1">
                <a:solidFill>
                  <a:srgbClr val="1F1F1F"/>
                </a:solidFill>
                <a:latin typeface="Google Sans Text"/>
                <a:ea typeface="Google Sans Text"/>
                <a:sym typeface="+mn-ea"/>
              </a:rPr>
              <a:t>Predictive Model Findings</a:t>
            </a:r>
            <a:endParaRPr lang="en-US" altLang="zh-CN" sz="2800" b="1">
              <a:solidFill>
                <a:srgbClr val="1F1F1F"/>
              </a:solidFill>
              <a:latin typeface="Google Sans Text"/>
              <a:ea typeface="Google Sans Text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330" y="11061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ct val="0"/>
              </a:spcBef>
              <a:spcAft>
                <a:spcPts val="800"/>
              </a:spcAft>
            </a:pPr>
            <a:r>
              <a:rPr lang="en-US" altLang="zh-CN" b="1">
                <a:solidFill>
                  <a:srgbClr val="1F1F1F"/>
                </a:solidFill>
                <a:latin typeface="Google Sans"/>
                <a:ea typeface="Google Sans"/>
                <a:sym typeface="+mn-ea"/>
              </a:rPr>
              <a:t>Comparative Results (At F1-Optimized Threshold)</a:t>
            </a:r>
            <a:endParaRPr lang="en-US" altLang="zh-CN" b="1">
              <a:solidFill>
                <a:srgbClr val="1F1F1F"/>
              </a:solidFill>
              <a:latin typeface="Google Sans"/>
              <a:ea typeface="Google Sans"/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443865" y="1727200"/>
          <a:ext cx="10882630" cy="2531745"/>
        </p:xfrm>
        <a:graphic>
          <a:graphicData uri="http://schemas.openxmlformats.org/drawingml/2006/table">
            <a:tbl>
              <a:tblPr/>
              <a:tblGrid>
                <a:gridCol w="474345"/>
                <a:gridCol w="1684020"/>
                <a:gridCol w="1090295"/>
                <a:gridCol w="1275715"/>
                <a:gridCol w="788035"/>
                <a:gridCol w="811530"/>
                <a:gridCol w="802005"/>
                <a:gridCol w="988695"/>
                <a:gridCol w="927735"/>
                <a:gridCol w="978535"/>
                <a:gridCol w="1061720"/>
              </a:tblGrid>
              <a:tr h="75819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 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Model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ROC_AUC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PR_AUC(AP)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P@0.5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R@0.5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F1@0.5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BestF1_thr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P@BestF1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R@BestF1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F1@BestF1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6868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Logistic Regression (balanced)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0.9149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0.0192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0.0000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0.0000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0.0000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0.0002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0.0192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1.0000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0.0377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904875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1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Random Forest (balanced_subsample)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0.4841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0.0017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0.0000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0.0000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0.0000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0.0000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0.0017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1.0000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0.0033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43230" y="4494530"/>
            <a:ext cx="11133455" cy="2025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>
                <a:latin typeface="Times New Roman Regular" panose="02020503050405090304" charset="0"/>
                <a:cs typeface="Times New Roman Regular" panose="02020503050405090304" charset="0"/>
              </a:rPr>
              <a:t>At 0.5 threshold: Both precision/recall/F1 are all 0. </a:t>
            </a:r>
            <a:endParaRPr lang="en-US" altLang="zh-CN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>
                <a:latin typeface="Times New Roman Regular" panose="02020503050405090304" charset="0"/>
                <a:cs typeface="Times New Roman Regular" panose="02020503050405090304" charset="0"/>
              </a:rPr>
              <a:t>Maximize F1 </a:t>
            </a:r>
            <a:r>
              <a:rPr lang="en-US" altLang="zh-CN" sz="16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threshold: T</a:t>
            </a:r>
            <a:r>
              <a:rPr lang="en-US" altLang="zh-CN" sz="1600">
                <a:latin typeface="Times New Roman Regular" panose="02020503050405090304" charset="0"/>
                <a:cs typeface="Times New Roman Regular" panose="02020503050405090304" charset="0"/>
              </a:rPr>
              <a:t>he optimal cutoffs are extremely low (≈0.0002 for Logistic Regression and ~0 for Random Forest)</a:t>
            </a:r>
            <a:endParaRPr lang="en-US" altLang="zh-CN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>
                <a:latin typeface="Times New Roman Regular" panose="02020503050405090304" charset="0"/>
                <a:cs typeface="Times New Roman Regular" panose="02020503050405090304" charset="0"/>
              </a:rPr>
              <a:t>Recall = 1.00 but low precision (1.92% for Logistic Regression; 0.17% for Random Forest). </a:t>
            </a:r>
            <a:endParaRPr lang="en-US" altLang="zh-CN" sz="16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>
                <a:latin typeface="Times New Roman Regular" panose="02020503050405090304" charset="0"/>
                <a:cs typeface="Times New Roman Regular" panose="02020503050405090304" charset="0"/>
              </a:rPr>
              <a:t>Logistic Regression performs much better (ROC_AUC = 0.9149, PR_AUC = 0.0192, ~10</a:t>
            </a:r>
            <a:r>
              <a:rPr lang="en-US" altLang="en-US" sz="1600">
                <a:latin typeface="Times New Roman Regular" panose="02020503050405090304" charset="0"/>
                <a:cs typeface="Times New Roman Regular" panose="02020503050405090304" charset="0"/>
              </a:rPr>
              <a:t>×</a:t>
            </a:r>
            <a:r>
              <a:rPr lang="en-US" altLang="zh-CN" sz="1600">
                <a:latin typeface="Times New Roman Regular" panose="02020503050405090304" charset="0"/>
                <a:cs typeface="Times New Roman Regular" panose="02020503050405090304" charset="0"/>
              </a:rPr>
              <a:t> the base fraud rate of ~0.0017), while Random Forest (balanced_subsample) is near random or worse (ROC_AUC = 0.4841, PR_AUC = 0.0017 ≈ baseline). </a:t>
            </a:r>
            <a:endParaRPr lang="en-US" altLang="zh-CN"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 descr="截屏2025-12-01 下午9.23.16"/>
          <p:cNvPicPr>
            <a:picLocks noChangeAspect="1"/>
          </p:cNvPicPr>
          <p:nvPr/>
        </p:nvPicPr>
        <p:blipFill>
          <a:blip r:embed="rId1"/>
          <a:srcRect l="763" r="232"/>
          <a:stretch>
            <a:fillRect/>
          </a:stretch>
        </p:blipFill>
        <p:spPr>
          <a:xfrm>
            <a:off x="545465" y="3429000"/>
            <a:ext cx="4453890" cy="3187065"/>
          </a:xfrm>
          <a:prstGeom prst="rect">
            <a:avLst/>
          </a:prstGeom>
        </p:spPr>
      </p:pic>
      <p:pic>
        <p:nvPicPr>
          <p:cNvPr id="4" name="图片 3" descr="截屏2025-12-01 下午9.37.54"/>
          <p:cNvPicPr>
            <a:picLocks noChangeAspect="1"/>
          </p:cNvPicPr>
          <p:nvPr/>
        </p:nvPicPr>
        <p:blipFill>
          <a:blip r:embed="rId2"/>
          <a:srcRect r="492"/>
          <a:stretch>
            <a:fillRect/>
          </a:stretch>
        </p:blipFill>
        <p:spPr>
          <a:xfrm>
            <a:off x="622300" y="220980"/>
            <a:ext cx="4377055" cy="31070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55895" y="459105"/>
            <a:ext cx="6771640" cy="26511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lang="en-US" altLang="zh-CN" sz="1600" b="0">
                <a:solidFill>
                  <a:schemeClr val="tx1"/>
                </a:solidFill>
                <a:latin typeface="Times New Roman Regular" panose="02020503050405090304" charset="0"/>
                <a:ea typeface="Menlo" panose="020B0609030804020204"/>
                <a:cs typeface="Times New Roman Regular" panose="02020503050405090304" charset="0"/>
              </a:rPr>
              <a:t>The ROC plot compares true-positive rate (TPR) vs false-positive rate (FPR).</a:t>
            </a:r>
            <a:endParaRPr lang="en-US" altLang="zh-CN" sz="1600" b="0">
              <a:solidFill>
                <a:schemeClr val="tx1"/>
              </a:solidFill>
              <a:latin typeface="Times New Roman Regular" panose="02020503050405090304" charset="0"/>
              <a:ea typeface="Menlo" panose="020B0609030804020204"/>
              <a:cs typeface="Times New Roman Regular" panose="0202050305040509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b="1">
                <a:solidFill>
                  <a:schemeClr val="tx1"/>
                </a:solidFill>
                <a:latin typeface="Times New Roman Bold" panose="02020503050405090304" charset="0"/>
                <a:ea typeface="Menlo" panose="020B0609030804020204"/>
                <a:cs typeface="Times New Roman Bold" panose="02020503050405090304" charset="0"/>
              </a:rPr>
              <a:t>Logistic Regression (red):</a:t>
            </a:r>
            <a:r>
              <a:rPr lang="en-US" altLang="zh-CN" sz="1600" b="0">
                <a:solidFill>
                  <a:schemeClr val="tx1"/>
                </a:solidFill>
                <a:latin typeface="Times New Roman Regular" panose="02020503050405090304" charset="0"/>
                <a:ea typeface="Menlo" panose="020B0609030804020204"/>
                <a:cs typeface="Times New Roman Regular" panose="02020503050405090304" charset="0"/>
              </a:rPr>
              <a:t> A steep jump to TPR = 1 at a very low FPR (AUC ≈ 0.915). </a:t>
            </a:r>
            <a:endParaRPr lang="en-US" altLang="zh-CN" sz="1600" b="0">
              <a:solidFill>
                <a:schemeClr val="tx1"/>
              </a:solidFill>
              <a:latin typeface="Times New Roman Regular" panose="02020503050405090304" charset="0"/>
              <a:ea typeface="Menlo" panose="020B0609030804020204"/>
              <a:cs typeface="Times New Roman Regular" panose="0202050305040509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b="0">
                <a:solidFill>
                  <a:schemeClr val="tx1"/>
                </a:solidFill>
                <a:latin typeface="Times New Roman Regular" panose="02020503050405090304" charset="0"/>
                <a:ea typeface="Menlo" panose="020B0609030804020204"/>
                <a:cs typeface="Times New Roman Regular" panose="02020503050405090304" charset="0"/>
              </a:rPr>
              <a:t>This indicates strong ranking: the single fraud cases in the test set are captured early as the threshold is lowered. </a:t>
            </a:r>
            <a:endParaRPr lang="en-US" altLang="zh-CN" sz="1600" b="0">
              <a:solidFill>
                <a:schemeClr val="tx1"/>
              </a:solidFill>
              <a:latin typeface="Times New Roman Regular" panose="02020503050405090304" charset="0"/>
              <a:ea typeface="Menlo" panose="020B0609030804020204"/>
              <a:cs typeface="Times New Roman Regular" panose="0202050305040509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b="1">
                <a:solidFill>
                  <a:schemeClr val="tx1"/>
                </a:solidFill>
                <a:latin typeface="Times New Roman Bold" panose="02020503050405090304" charset="0"/>
                <a:ea typeface="Menlo" panose="020B0609030804020204"/>
                <a:cs typeface="Times New Roman Bold" panose="02020503050405090304" charset="0"/>
              </a:rPr>
              <a:t>Random Forest  (blue):</a:t>
            </a:r>
            <a:r>
              <a:rPr lang="en-US" altLang="zh-CN" sz="1600">
                <a:solidFill>
                  <a:schemeClr val="tx1"/>
                </a:solidFill>
                <a:latin typeface="Times New Roman" panose="02020503050405090304" charset="0"/>
                <a:ea typeface="Menlo" panose="020B0609030804020204"/>
                <a:cs typeface="Times New Roman" panose="02020503050405090304" charset="0"/>
              </a:rPr>
              <a:t> C</a:t>
            </a:r>
            <a:r>
              <a:rPr lang="en-US" altLang="zh-CN" sz="1600" b="0">
                <a:solidFill>
                  <a:schemeClr val="tx1"/>
                </a:solidFill>
                <a:latin typeface="Times New Roman Regular" panose="02020503050405090304" charset="0"/>
                <a:ea typeface="Menlo" panose="020B0609030804020204"/>
                <a:cs typeface="Times New Roman Regular" panose="02020503050405090304" charset="0"/>
              </a:rPr>
              <a:t>lose to the chance diagonal (AUC ≈ 0.484), meaning it ranks fraud vs. non-fraud little better than random on this split.</a:t>
            </a:r>
            <a:endParaRPr lang="en-US" altLang="zh-CN" sz="1600" b="0">
              <a:solidFill>
                <a:schemeClr val="tx1"/>
              </a:solidFill>
              <a:latin typeface="Times New Roman Regular" panose="02020503050405090304" charset="0"/>
              <a:ea typeface="Menlo" panose="020B0609030804020204"/>
              <a:cs typeface="Times New Roman Regular" panose="0202050305040509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b="0">
                <a:solidFill>
                  <a:schemeClr val="tx1"/>
                </a:solidFill>
                <a:latin typeface="Times New Roman Regular" panose="02020503050405090304" charset="0"/>
                <a:ea typeface="Menlo" panose="020B0609030804020204"/>
                <a:cs typeface="Times New Roman Regular" panose="02020503050405090304" charset="0"/>
              </a:rPr>
              <a:t>The ROC view favors Logistic Regression here.</a:t>
            </a:r>
            <a:endParaRPr lang="en-US" altLang="zh-CN" sz="1600" b="0">
              <a:solidFill>
                <a:schemeClr val="tx1"/>
              </a:solidFill>
              <a:latin typeface="Times New Roman Regular" panose="02020503050405090304" charset="0"/>
              <a:ea typeface="Menlo" panose="020B0609030804020204"/>
              <a:cs typeface="Times New Roman Regular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55895" y="3429000"/>
            <a:ext cx="6833235" cy="26765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600" b="0">
                <a:solidFill>
                  <a:schemeClr val="tx1"/>
                </a:solidFill>
                <a:latin typeface="Times New Roman Regular" panose="02020503050405090304" charset="0"/>
                <a:ea typeface="Menlo" panose="020B0609030804020204"/>
                <a:cs typeface="Times New Roman Regular" panose="02020503050405090304" charset="0"/>
              </a:rPr>
              <a:t>The plot shows precision vs. recall (baseline = 0.17%).</a:t>
            </a:r>
            <a:endParaRPr lang="en-US" altLang="zh-CN" sz="1600" b="0">
              <a:solidFill>
                <a:schemeClr val="tx1"/>
              </a:solidFill>
              <a:latin typeface="Times New Roman Regular" panose="02020503050405090304" charset="0"/>
              <a:ea typeface="Menlo" panose="020B0609030804020204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>
                <a:solidFill>
                  <a:schemeClr val="tx1"/>
                </a:solidFill>
                <a:latin typeface="Times New Roman Regular" panose="02020503050405090304" charset="0"/>
                <a:ea typeface="Menlo" panose="020B0609030804020204"/>
                <a:cs typeface="Times New Roman Regular" panose="02020503050405090304" charset="0"/>
              </a:rPr>
              <a:t>With an extremely imbalanced test set (≈1 positive), both curves hug the bottom</a:t>
            </a:r>
            <a:endParaRPr lang="en-US" altLang="zh-CN" sz="1600" b="0">
              <a:solidFill>
                <a:schemeClr val="tx1"/>
              </a:solidFill>
              <a:latin typeface="Times New Roman Regular" panose="02020503050405090304" charset="0"/>
              <a:ea typeface="Menlo" panose="020B0609030804020204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1">
                <a:solidFill>
                  <a:schemeClr val="tx1"/>
                </a:solidFill>
                <a:latin typeface="Times New Roman Bold" panose="02020503050405090304" charset="0"/>
                <a:ea typeface="Menlo" panose="020B0609030804020204"/>
                <a:cs typeface="Times New Roman Bold" panose="02020503050405090304" charset="0"/>
              </a:rPr>
              <a:t>Logistic Regression (red)</a:t>
            </a:r>
            <a:r>
              <a:rPr lang="en-US" altLang="zh-CN" sz="1600" b="0">
                <a:solidFill>
                  <a:schemeClr val="tx1"/>
                </a:solidFill>
                <a:latin typeface="Times New Roman Regular" panose="02020503050405090304" charset="0"/>
                <a:ea typeface="Menlo" panose="020B0609030804020204"/>
                <a:cs typeface="Times New Roman Regular" panose="02020503050405090304" charset="0"/>
              </a:rPr>
              <a:t> stays consistently above the baseline and above Random Forest (AP ≈ 0.0192)</a:t>
            </a:r>
            <a:endParaRPr lang="en-US" altLang="zh-CN" sz="1600" b="0">
              <a:solidFill>
                <a:schemeClr val="tx1"/>
              </a:solidFill>
              <a:latin typeface="Times New Roman Regular" panose="02020503050405090304" charset="0"/>
              <a:ea typeface="Menlo" panose="020B0609030804020204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1">
                <a:solidFill>
                  <a:schemeClr val="tx1"/>
                </a:solidFill>
                <a:latin typeface="Times New Roman Bold" panose="02020503050405090304" charset="0"/>
                <a:ea typeface="Menlo" panose="020B0609030804020204"/>
                <a:cs typeface="Times New Roman Bold" panose="02020503050405090304" charset="0"/>
              </a:rPr>
              <a:t>Random Forest (blue) </a:t>
            </a:r>
            <a:r>
              <a:rPr lang="en-US" altLang="zh-CN" sz="1600" b="0">
                <a:solidFill>
                  <a:schemeClr val="tx1"/>
                </a:solidFill>
                <a:latin typeface="Times New Roman Regular" panose="02020503050405090304" charset="0"/>
                <a:ea typeface="Menlo" panose="020B0609030804020204"/>
                <a:cs typeface="Times New Roman Regular" panose="02020503050405090304" charset="0"/>
              </a:rPr>
              <a:t>is near the baseline (AP ≈ 0.0017), indicating almost random ranking under this split.</a:t>
            </a:r>
            <a:endParaRPr lang="en-US" altLang="zh-CN" sz="1600" b="0">
              <a:solidFill>
                <a:schemeClr val="tx1"/>
              </a:solidFill>
              <a:latin typeface="Times New Roman Regular" panose="02020503050405090304" charset="0"/>
              <a:ea typeface="Menlo" panose="020B0609030804020204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>
                <a:solidFill>
                  <a:schemeClr val="tx1"/>
                </a:solidFill>
                <a:latin typeface="Times New Roman Regular" panose="02020503050405090304" charset="0"/>
                <a:ea typeface="Menlo" panose="020B0609030804020204"/>
                <a:cs typeface="Times New Roman Regular" panose="02020503050405090304" charset="0"/>
              </a:rPr>
              <a:t>LR ranks frauds better than RF.</a:t>
            </a:r>
            <a:endParaRPr lang="en-US" altLang="zh-CN" sz="1600" b="0">
              <a:solidFill>
                <a:schemeClr val="tx1"/>
              </a:solidFill>
              <a:latin typeface="Times New Roman Regular" panose="02020503050405090304" charset="0"/>
              <a:ea typeface="Menlo" panose="020B0609030804020204"/>
              <a:cs typeface="Times New Roman Regular" panose="0202050305040509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sz="2800" b="1">
                <a:solidFill>
                  <a:srgbClr val="1F1F1F"/>
                </a:solidFill>
                <a:latin typeface="Google Sans Text"/>
                <a:ea typeface="Google Sans Text"/>
              </a:rPr>
              <a:t>Confusion Matrix (Logistic Regression）</a:t>
            </a:r>
            <a:endParaRPr lang="zh-CN" altLang="en-US" sz="3200"/>
          </a:p>
        </p:txBody>
      </p:sp>
      <p:pic>
        <p:nvPicPr>
          <p:cNvPr id="4" name="图片 3" descr="confusion_matrix_b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0" y="1679575"/>
            <a:ext cx="4994910" cy="38106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56275" y="1679575"/>
            <a:ext cx="6144895" cy="40481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The Confusion Matrix validates the </a:t>
            </a:r>
            <a:r>
              <a:rPr lang="en-US" altLang="zh-CN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  <a:sym typeface="+mn-ea"/>
              </a:rPr>
              <a:t>Logistic Regression</a:t>
            </a:r>
            <a:r>
              <a:rPr lang="en-US" altLang="zh-CN" b="1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  <a:sym typeface="+mn-ea"/>
              </a:rPr>
              <a:t> 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model's success in achieving the Maximum Recall.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b="1">
                <a:latin typeface="Times New Roman Bold" panose="02020503050405090304" charset="0"/>
                <a:cs typeface="Times New Roman Bold" panose="02020503050405090304" charset="0"/>
              </a:rPr>
              <a:t>FN = 0 (Success):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 Zero fraudulent transactions were missed. This eliminates the financial risk of "missed fraud."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b="1">
                <a:latin typeface="Times New Roman Bold" panose="02020503050405090304" charset="0"/>
                <a:cs typeface="Times New Roman Bold" panose="02020503050405090304" charset="0"/>
              </a:rPr>
              <a:t>TP = 1: 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The single fraud case was correctly captured.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b="1">
                <a:latin typeface="Times New Roman Bold" panose="02020503050405090304" charset="0"/>
                <a:cs typeface="Times New Roman Bold" panose="02020503050405090304" charset="0"/>
              </a:rPr>
              <a:t>FP = 59 (Cost): 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The cost of perfect Recall is 59 False Positives (false alerts), leading to high operational costs for manual review.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b="1">
                <a:latin typeface="Times New Roman Bold" panose="02020503050405090304" charset="0"/>
                <a:cs typeface="Times New Roman Bold" panose="02020503050405090304" charset="0"/>
              </a:rPr>
              <a:t>Conclusion: 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The high-Recall strategy (optimal F1 threshold ≈ 0.0002) transfers the business risk from financial loss to operational expense.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532765"/>
            <a:ext cx="11488420" cy="705485"/>
          </a:xfrm>
        </p:spPr>
        <p:txBody>
          <a:bodyPr>
            <a:noAutofit/>
          </a:bodyPr>
          <a:p>
            <a:r>
              <a:rPr lang="en-US" altLang="zh-CN" sz="2800" b="1">
                <a:solidFill>
                  <a:srgbClr val="1F1F1F"/>
                </a:solidFill>
                <a:latin typeface="Google Sans"/>
                <a:ea typeface="Google Sans"/>
                <a:sym typeface="+mn-ea"/>
              </a:rPr>
              <a:t>The Business Trade-Off: The Cost of 100% Recall</a:t>
            </a:r>
            <a:endParaRPr lang="en-US" altLang="zh-CN" sz="2800" b="1">
              <a:solidFill>
                <a:srgbClr val="1F1F1F"/>
              </a:solidFill>
              <a:latin typeface="Google Sans"/>
              <a:ea typeface="Google Sans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8330" y="1313815"/>
            <a:ext cx="105733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ts val="1600"/>
              </a:spcAft>
            </a:pPr>
            <a:r>
              <a:rPr lang="en-US" altLang="zh-CN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</a:rPr>
              <a:t>Achieving 100% Recall (FN=0) requires a low threshold, which inevitably generates a high volume of False Positives (FP).</a:t>
            </a:r>
            <a:endParaRPr lang="en-US" altLang="zh-CN" sz="2800" b="1" spc="300">
              <a:solidFill>
                <a:srgbClr val="1F1F1F"/>
              </a:solidFill>
              <a:uFillTx/>
              <a:latin typeface="Google Sans"/>
              <a:ea typeface="Google Sans"/>
              <a:cs typeface="+mj-cs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608330" y="2501900"/>
          <a:ext cx="11016615" cy="2004695"/>
        </p:xfrm>
        <a:graphic>
          <a:graphicData uri="http://schemas.openxmlformats.org/drawingml/2006/table">
            <a:tbl>
              <a:tblPr/>
              <a:tblGrid>
                <a:gridCol w="2872740"/>
                <a:gridCol w="1614805"/>
                <a:gridCol w="6529070"/>
              </a:tblGrid>
              <a:tr h="4165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Metric</a:t>
                      </a:r>
                      <a:endParaRPr lang="en-US" altLang="zh-CN" sz="14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Value</a:t>
                      </a:r>
                      <a:endParaRPr lang="en-US" altLang="zh-CN" sz="14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Interpretation</a:t>
                      </a:r>
                      <a:endParaRPr lang="en-US" altLang="zh-CN" sz="14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65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True Positives (TP)</a:t>
                      </a:r>
                      <a:endParaRPr lang="en-US" altLang="zh-CN" sz="1400" b="1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1</a:t>
                      </a:r>
                      <a:endParaRPr lang="en-US" altLang="zh-CN" sz="14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Actual frauds captured.</a:t>
                      </a:r>
                      <a:endParaRPr lang="en-US" altLang="zh-CN" sz="14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54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False Positives (FP)</a:t>
                      </a:r>
                      <a:endParaRPr lang="en-US" altLang="zh-CN" sz="1400" b="1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51</a:t>
                      </a:r>
                      <a:endParaRPr lang="en-US" altLang="zh-CN" sz="14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Legitimate transactions mistakenly flagged.</a:t>
                      </a:r>
                      <a:endParaRPr lang="en-US" altLang="zh-CN" sz="14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610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Precision</a:t>
                      </a:r>
                      <a:endParaRPr lang="en-US" altLang="zh-CN" sz="1400" b="1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1.96%</a:t>
                      </a:r>
                      <a:endParaRPr lang="en-US" altLang="zh-CN" sz="14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Low Alert Efficiency: Fewer than 2% of all alerts are true fraud.</a:t>
                      </a:r>
                      <a:endParaRPr lang="en-US" altLang="zh-CN" sz="14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08330" y="4685030"/>
            <a:ext cx="11247755" cy="18376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 spc="300">
                <a:solidFill>
                  <a:srgbClr val="1F1F1F"/>
                </a:solidFill>
                <a:uFillTx/>
                <a:latin typeface="Google Sans"/>
                <a:ea typeface="Google Sans"/>
                <a:cs typeface="+mj-cs"/>
              </a:rPr>
              <a:t>Business Implications</a:t>
            </a:r>
            <a:endParaRPr lang="en-US" altLang="zh-CN" sz="2000" b="1" spc="300">
              <a:solidFill>
                <a:srgbClr val="1F1F1F"/>
              </a:solidFill>
              <a:uFillTx/>
              <a:latin typeface="Google Sans"/>
              <a:ea typeface="Google Sans"/>
              <a:cs typeface="+mj-cs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</a:rPr>
              <a:t>Increased Operating Expenses: High volume of FP requires excessive manual review and investigation by analysts.</a:t>
            </a:r>
            <a:endParaRPr lang="en-US" altLang="zh-CN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</a:rPr>
              <a:t>Customer Friction: Legitimate transactions are blocked, leading to poor customer experience and potential churn.</a:t>
            </a:r>
            <a:endParaRPr lang="en-US" altLang="zh-CN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1F1F1F"/>
                </a:solidFill>
                <a:latin typeface="Times New Roman Bold" panose="02020503050405090304" charset="0"/>
                <a:ea typeface="Google Sans Text"/>
                <a:cs typeface="Times New Roman Bold" panose="02020503050405090304" charset="0"/>
              </a:rPr>
              <a:t>Conclusion</a:t>
            </a:r>
            <a:r>
              <a:rPr lang="en-US" altLang="zh-CN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</a:rPr>
              <a:t>: The model is highly effective at finding fraud, but the business strategy must address the massive FP volume.</a:t>
            </a:r>
            <a:endParaRPr lang="en-US" altLang="zh-CN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8330" y="200406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ct val="0"/>
              </a:spcBef>
              <a:spcAft>
                <a:spcPts val="800"/>
              </a:spcAft>
            </a:pPr>
            <a:r>
              <a:rPr lang="en-US" altLang="zh-CN" sz="2000" b="1" spc="300">
                <a:solidFill>
                  <a:srgbClr val="1F1F1F"/>
                </a:solidFill>
                <a:uFillTx/>
                <a:latin typeface="Google Sans"/>
                <a:ea typeface="Google Sans"/>
                <a:cs typeface="+mj-cs"/>
                <a:sym typeface="+mn-ea"/>
              </a:rPr>
              <a:t>Quantifying the Cost</a:t>
            </a:r>
            <a:endParaRPr lang="en-US" altLang="zh-CN" sz="2000" b="1" spc="300">
              <a:solidFill>
                <a:srgbClr val="1F1F1F"/>
              </a:solidFill>
              <a:uFillTx/>
              <a:latin typeface="Google Sans"/>
              <a:ea typeface="Google Sans"/>
              <a:cs typeface="+mj-cs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39115" y="608330"/>
            <a:ext cx="11539855" cy="705485"/>
          </a:xfrm>
        </p:spPr>
        <p:txBody>
          <a:bodyPr>
            <a:noAutofit/>
          </a:bodyPr>
          <a:p>
            <a:pPr algn="l"/>
            <a:r>
              <a:rPr lang="en-US" altLang="zh-CN" sz="2800" b="1">
                <a:solidFill>
                  <a:srgbClr val="1F1F1F"/>
                </a:solidFill>
                <a:latin typeface="Google Sans"/>
                <a:ea typeface="Google Sans"/>
                <a:sym typeface="+mn-ea"/>
              </a:rPr>
              <a:t>Actionable Insight: Risk-Tiered Intervention Strategy</a:t>
            </a:r>
            <a:endParaRPr lang="en-US" altLang="zh-CN" sz="2800" b="1">
              <a:solidFill>
                <a:srgbClr val="1F1F1F"/>
              </a:solidFill>
              <a:latin typeface="Google Sans"/>
              <a:ea typeface="Google Sans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115" y="1416050"/>
            <a:ext cx="1048575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ts val="1600"/>
              </a:spcAft>
            </a:pPr>
            <a:r>
              <a:rPr lang="en-US" altLang="zh-CN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</a:rPr>
              <a:t>To manage the high FP volume while maintaining the 100% Recall goal,  I propose a three-tiered intervention strategy based on the predicted probability (P).</a:t>
            </a:r>
            <a:endParaRPr lang="en-US" altLang="zh-CN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51510" y="2302510"/>
          <a:ext cx="10485120" cy="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Risk Tier</a:t>
                      </a:r>
                      <a:endParaRPr lang="en-US" altLang="zh-CN" sz="14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Predicted Probability (P)</a:t>
                      </a:r>
                      <a:endParaRPr lang="en-US" altLang="zh-CN" sz="14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Business Intervention Action</a:t>
                      </a:r>
                      <a:endParaRPr lang="en-US" altLang="zh-CN" sz="14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Strategic Goal</a:t>
                      </a:r>
                      <a:endParaRPr lang="en-US" altLang="zh-CN" sz="14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High Risk</a:t>
                      </a:r>
                      <a:endParaRPr lang="en-US" altLang="zh-CN" sz="14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P &gt;0.000237</a:t>
                      </a:r>
                      <a:endParaRPr lang="en-US" altLang="zh-CN" sz="14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Immediate Automatic Block; High-priority alert to fraud analysts.</a:t>
                      </a:r>
                      <a:endParaRPr lang="en-US" altLang="zh-CN" sz="14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Emergency loss prevention.</a:t>
                      </a:r>
                      <a:endParaRPr lang="en-US" altLang="zh-CN" sz="14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Medium Risk</a:t>
                      </a:r>
                      <a:endParaRPr lang="en-US" altLang="zh-CN" sz="14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P </a:t>
                      </a:r>
                      <a:r>
                        <a:rPr lang="en-US" altLang="zh-CN" sz="1400">
                          <a:latin typeface="Times New Roman Regular" panose="02020503050405090304" charset="0"/>
                          <a:cs typeface="Times New Roman Regular" panose="02020503050405090304" charset="0"/>
                          <a:sym typeface="+mn-ea"/>
                        </a:rPr>
                        <a:t>≈ 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0.000237</a:t>
                      </a:r>
                      <a:endParaRPr lang="en-US" altLang="zh-CN" sz="14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Automated, Low-Friction Verification (e.g., in-app push: "Did you authorize the transaction? Reply YES/NO").</a:t>
                      </a:r>
                      <a:endParaRPr lang="en-US" altLang="zh-CN" sz="14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Automate the high-FP zone, minimizing manual review costs and customer friction.</a:t>
                      </a:r>
                      <a:endParaRPr lang="en-US" altLang="zh-CN" sz="14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rgbClr val="1F1F1F"/>
                          </a:solidFill>
                          <a:latin typeface="Times New Roman Bold" panose="02020503050405090304" charset="0"/>
                          <a:ea typeface="Google Sans Text"/>
                          <a:cs typeface="Times New Roman Bold" panose="02020503050405090304" charset="0"/>
                        </a:rPr>
                        <a:t>Low Risk</a:t>
                      </a:r>
                      <a:endParaRPr lang="en-US" altLang="zh-CN" sz="1400" b="1">
                        <a:solidFill>
                          <a:srgbClr val="1F1F1F"/>
                        </a:solidFill>
                        <a:latin typeface="Times New Roman Bold" panose="02020503050405090304" charset="0"/>
                        <a:ea typeface="Google Sans Text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P &lt; 0.000237</a:t>
                      </a:r>
                      <a:endParaRPr lang="en-US" altLang="zh-CN" sz="14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Normal transaction clearance and continuous behavioral monitoring.</a:t>
                      </a:r>
                      <a:endParaRPr lang="en-US" altLang="zh-CN" sz="14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1F1F1F"/>
                          </a:solidFill>
                          <a:latin typeface="Times New Roman Regular" panose="02020503050405090304" charset="0"/>
                          <a:ea typeface="Google Sans Text"/>
                          <a:cs typeface="Times New Roman Regular" panose="02020503050405090304" charset="0"/>
                        </a:rPr>
                        <a:t>Ensure smooth customer experience.</a:t>
                      </a:r>
                      <a:endParaRPr lang="en-US" altLang="zh-CN" sz="1400">
                        <a:solidFill>
                          <a:srgbClr val="1F1F1F"/>
                        </a:solidFill>
                        <a:latin typeface="Times New Roman Regular" panose="02020503050405090304" charset="0"/>
                        <a:ea typeface="Google Sans Text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39115" y="5703570"/>
            <a:ext cx="11146790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1F1F1F"/>
                </a:solidFill>
                <a:latin typeface="Times New Roman Bold" panose="02020503050405090304" charset="0"/>
                <a:ea typeface="Google Sans Text"/>
                <a:cs typeface="Times New Roman Bold" panose="02020503050405090304" charset="0"/>
              </a:rPr>
              <a:t>Strategic Advantage: </a:t>
            </a:r>
            <a:r>
              <a:rPr lang="en-US" altLang="zh-CN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</a:rPr>
              <a:t>This allows the institution to utilize the model's 100% security guarantee without overwhelming analysts or annoying customers.</a:t>
            </a:r>
            <a:endParaRPr lang="en-US" altLang="zh-CN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608330"/>
            <a:ext cx="9485630" cy="705485"/>
          </a:xfrm>
        </p:spPr>
        <p:txBody>
          <a:bodyPr/>
          <a:p>
            <a:r>
              <a:rPr lang="en-US" altLang="zh-CN" b="1">
                <a:solidFill>
                  <a:srgbClr val="1F1F1F"/>
                </a:solidFill>
                <a:latin typeface="Google Sans"/>
                <a:ea typeface="Google Sans"/>
                <a:sym typeface="+mn-ea"/>
              </a:rPr>
              <a:t>Conclusion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5800" y="1605915"/>
            <a:ext cx="10587990" cy="409130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1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altLang="zh-CN" sz="2800" b="1">
                <a:solidFill>
                  <a:srgbClr val="1F1F1F"/>
                </a:solidFill>
                <a:latin typeface="Times New Roman Regular" panose="02020503050405090304" charset="0"/>
                <a:ea typeface="Google Sans"/>
                <a:cs typeface="Times New Roman Regular" panose="02020503050405090304" charset="0"/>
              </a:rPr>
              <a:t>Summary of Achievements</a:t>
            </a:r>
            <a:endParaRPr lang="en-US" altLang="zh-CN" sz="2800" b="1">
              <a:solidFill>
                <a:srgbClr val="1F1F1F"/>
              </a:solidFill>
              <a:latin typeface="Times New Roman Regular" panose="02020503050405090304" charset="0"/>
              <a:ea typeface="Google Sans"/>
              <a:cs typeface="Times New Roman Regular" panose="02020503050405090304" charset="0"/>
            </a:endParaRPr>
          </a:p>
          <a:p>
            <a:pPr marL="342900" indent="-34290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 sz="2000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</a:rPr>
              <a:t>Model Success: Developed and validated a class-weighted Logistic Regression model.</a:t>
            </a:r>
            <a:endParaRPr lang="en-US" altLang="zh-CN" sz="2000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</a:endParaRPr>
          </a:p>
          <a:p>
            <a:pPr marL="342900" indent="-34290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 sz="2000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</a:rPr>
              <a:t>Business Goal Achieved: Guaranteed 100% Recall through optimal threshold setting (0.000237).</a:t>
            </a:r>
            <a:endParaRPr lang="en-US" altLang="zh-CN" sz="2000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</a:endParaRPr>
          </a:p>
          <a:p>
            <a:pPr marL="342900" indent="-34290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 sz="2000">
                <a:solidFill>
                  <a:srgbClr val="1F1F1F"/>
                </a:solidFill>
                <a:latin typeface="Times New Roman Regular" panose="02020503050405090304" charset="0"/>
                <a:ea typeface="Google Sans Text"/>
                <a:cs typeface="Times New Roman Regular" panose="02020503050405090304" charset="0"/>
              </a:rPr>
              <a:t>Actionable Strategy: Proposed a Risk-Tiered Intervention Strategy to manage the resulting high False Positive rate efficiently.</a:t>
            </a:r>
            <a:endParaRPr lang="en-US" altLang="zh-CN" sz="2000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</a:endParaRPr>
          </a:p>
          <a:p>
            <a:pPr inden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None/>
            </a:pPr>
            <a:r>
              <a:rPr lang="en-US" altLang="zh-CN" sz="2800" b="1">
                <a:solidFill>
                  <a:srgbClr val="1F1F1F"/>
                </a:solidFill>
                <a:latin typeface="Times New Roman Regular" panose="02020503050405090304" charset="0"/>
                <a:ea typeface="Google Sans"/>
                <a:cs typeface="Times New Roman Regular" panose="02020503050405090304" charset="0"/>
              </a:rPr>
              <a:t>Thank You!</a:t>
            </a:r>
            <a:endParaRPr lang="en-US" altLang="zh-CN" sz="2800" b="1">
              <a:solidFill>
                <a:srgbClr val="1F1F1F"/>
              </a:solidFill>
              <a:latin typeface="Times New Roman Regular" panose="02020503050405090304" charset="0"/>
              <a:ea typeface="Google Sans"/>
              <a:cs typeface="Times New Roman Regular" panose="02020503050405090304" charset="0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solidFill>
                <a:srgbClr val="1F1F1F"/>
              </a:solidFill>
              <a:latin typeface="Times New Roman Regular" panose="02020503050405090304" charset="0"/>
              <a:ea typeface="Google Sans Text"/>
              <a:cs typeface="Times New Roman Regular" panose="0202050305040509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TABLE_ENDDRAG_ORIGIN_RECT" val="877*132"/>
  <p:tag name="TABLE_ENDDRAG_RECT" val="47*91*877*132"/>
</p:tagLst>
</file>

<file path=ppt/tags/tag71.xml><?xml version="1.0" encoding="utf-8"?>
<p:tagLst xmlns:p="http://schemas.openxmlformats.org/presentationml/2006/main">
  <p:tag name="TABLE_ENDDRAG_ORIGIN_RECT" val="498*127"/>
  <p:tag name="TABLE_ENDDRAG_RECT" val="33*331*498*127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TABLE_ENDDRAG_ORIGIN_RECT" val="872*340"/>
  <p:tag name="TABLE_ENDDRAG_RECT" val="49*80*872*340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TABLE_ENDDRAG_ORIGIN_RECT" val="856*199"/>
  <p:tag name="TABLE_ENDDRAG_RECT" val="34*136*856*199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TABLE_ENDDRAG_ORIGIN_RECT" val="867*153"/>
  <p:tag name="TABLE_ENDDRAG_RECT" val="47*197*867*153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6352</Words>
  <Application>WPS 演示</Application>
  <PresentationFormat>宽屏</PresentationFormat>
  <Paragraphs>278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5" baseType="lpstr">
      <vt:lpstr>Arial</vt:lpstr>
      <vt:lpstr>宋体</vt:lpstr>
      <vt:lpstr>Wingdings</vt:lpstr>
      <vt:lpstr>Wingdings</vt:lpstr>
      <vt:lpstr>PingFang SC Semibold</vt:lpstr>
      <vt:lpstr>Google Sans Text</vt:lpstr>
      <vt:lpstr>Thonburi</vt:lpstr>
      <vt:lpstr>Arial</vt:lpstr>
      <vt:lpstr>Times New Roman Bold</vt:lpstr>
      <vt:lpstr>Times New Roman Regular</vt:lpstr>
      <vt:lpstr>Google Sans</vt:lpstr>
      <vt:lpstr>-apple-system</vt:lpstr>
      <vt:lpstr>Menlo</vt:lpstr>
      <vt:lpstr>Times New Roman</vt:lpstr>
      <vt:lpstr>苹方-简</vt:lpstr>
      <vt:lpstr>微软雅黑</vt:lpstr>
      <vt:lpstr>汉仪旗黑</vt:lpstr>
      <vt:lpstr>宋体</vt:lpstr>
      <vt:lpstr>Arial Unicode MS</vt:lpstr>
      <vt:lpstr>-apple-system</vt:lpstr>
      <vt:lpstr>Google Sans</vt:lpstr>
      <vt:lpstr>Google Sans Text</vt:lpstr>
      <vt:lpstr>Menlo</vt:lpstr>
      <vt:lpstr>汉仪书宋二KW</vt:lpstr>
      <vt:lpstr>WPS</vt:lpstr>
      <vt:lpstr>Predictive Analytics and Business Strategy for Credit Card Fraud Detection   Zhi Xiao / 1306209 MGS*3101*01 12/10/2025</vt:lpstr>
      <vt:lpstr>Problem Statement</vt:lpstr>
      <vt:lpstr>Data &amp; Challenge</vt:lpstr>
      <vt:lpstr>Methodology</vt:lpstr>
      <vt:lpstr>Predictive Model Findings</vt:lpstr>
      <vt:lpstr>PowerPoint 演示文稿</vt:lpstr>
      <vt:lpstr>Confusion Matrix (Logistic Regression）</vt:lpstr>
      <vt:lpstr>The Business Trade-Off: The Cost of 100% Recall</vt:lpstr>
      <vt:lpstr>Actionable Insight: Risk-Tiered Intervention Strategy</vt:lpstr>
      <vt:lpstr>Conclusion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    静的夜</cp:lastModifiedBy>
  <cp:revision>209</cp:revision>
  <dcterms:created xsi:type="dcterms:W3CDTF">2025-12-09T02:20:17Z</dcterms:created>
  <dcterms:modified xsi:type="dcterms:W3CDTF">2025-12-09T02:20:17Z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0C904238A758CC90F4162D693192C3BC_41</vt:lpwstr>
  </property>
</Properties>
</file>